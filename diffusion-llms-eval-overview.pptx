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Evaluating Diffusion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A0BBDD"/>
                </a:solidFill>
                <a:latin typeface="Arial"/>
              </a:defRPr>
            </a:pPr>
            <a:r>
              <a:t>Comparing discrete diffusion and autoregressive LLMs</a:t>
            </a:r>
            <a:br/>
            <a:r>
              <a:t>on planning and reasoning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10896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A0BBDD"/>
                </a:solidFill>
                <a:latin typeface="Arial"/>
              </a:defRPr>
            </a:pPr>
            <a:r>
              <a:t>Lovro Kovačić</a:t>
            </a:r>
            <a:br/>
            <a:r>
              <a:t>Mentor: ______________</a:t>
            </a:r>
            <a:br/>
            <a:r>
              <a:t>Faculty of 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7BAFD4"/>
                </a:solidFill>
                <a:latin typeface="Arial"/>
              </a:defRPr>
            </a:pPr>
            <a:r>
              <a:t>Infobip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Diffusion models offer an alternative to autoregressive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AR models generate left-to-right — early errors propagate, no revision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Agentic/planning tasks require revisiting earlier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Diffusion models generate by iterative denoising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Tokens can be revisited and corrected in later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Three paradigms to 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Autoregressive (Gemma, Qwen) — sequential, left-to-right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Standard discrete diffusion (LLaDA2.1 without T2T) — parallel denoising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800">
                <a:solidFill>
                  <a:srgbClr val="2D2D2D"/>
                </a:solidFill>
                <a:latin typeface="Arial"/>
              </a:defRPr>
              <a:buChar char="–"/>
            </a:pPr>
            <a:r>
              <a:t>Diffusion with remasking (LLaDA2.1 with T2T) — error correction via token 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Evaluation pipeline: RAG + LLM-as-a-Judge via RAGAS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  <a:defRPr sz="1700" b="1">
                <a:solidFill>
                  <a:srgbClr val="2E75B6"/>
                </a:solidFill>
                <a:latin typeface="Arial"/>
              </a:defRPr>
            </a:pPr>
            <a:r>
              <a:t>1.  Context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LangChain documentation scraped into text chunks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700" b="1">
                <a:solidFill>
                  <a:srgbClr val="2E75B6"/>
                </a:solidFill>
                <a:latin typeface="Arial"/>
              </a:defRPr>
            </a:pPr>
            <a:r>
              <a:t>2.  RAG Pipeline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LangChain chatbot answers questions using retrieved context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700" b="1">
                <a:solidFill>
                  <a:srgbClr val="2E75B6"/>
                </a:solidFill>
                <a:latin typeface="Arial"/>
              </a:defRPr>
            </a:pPr>
            <a:r>
              <a:t>3.  Models Under Test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LLaDA2.1-mini (diffusion)  |  Gemma-4 (26b/31b/e2b)  |  Qwen3.6 (AR)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700" b="1">
                <a:solidFill>
                  <a:srgbClr val="2E75B6"/>
                </a:solidFill>
                <a:latin typeface="Arial"/>
              </a:defRPr>
            </a:pPr>
            <a:r>
              <a:t>4.  LLM-as-Judge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GPT-4.1-mini evaluates all responses via RAGAS (not under test)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  <a:defRPr sz="1700" b="1">
                <a:solidFill>
                  <a:srgbClr val="2E75B6"/>
                </a:solidFill>
                <a:latin typeface="Arial"/>
              </a:defRPr>
            </a:pPr>
            <a:r>
              <a:t>5.  Metrics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Faithfulness, Response Groundedness, Context Relevance,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     Context Utilization, Answer Relevancy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All models answer identical questions using the same RAG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  <a:buChar char="–"/>
            </a:pPr>
            <a:r>
              <a:t>Chatbot built on scraped LangChain documentation (articles, blogs, company info)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  <a:buChar char="–"/>
            </a:pPr>
            <a:r>
              <a:t>System prompt: answer from retrieved context, reject off-topic questions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  <a:buChar char="–"/>
            </a:pPr>
            <a:r>
              <a:t>Off-topic categories: competitor comparisons, politics, sex/drugs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  <a:buChar char="–"/>
            </a:pPr>
            <a:r>
              <a:t>Same retrieved context presented to every model for each question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900">
                <a:solidFill>
                  <a:srgbClr val="2D2D2D"/>
                </a:solidFill>
                <a:latin typeface="Arial"/>
              </a:defRPr>
              <a:buChar char="–"/>
            </a:pPr>
            <a:r>
              <a:t>Measuring not just what they answer, but how well they reason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F4E79"/>
                </a:solidFill>
                <a:latin typeface="Arial"/>
              </a:defRPr>
            </a:pPr>
            <a:r>
              <a:t>We control for the generation variable — only the model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1F4E79"/>
                </a:solidFill>
                <a:latin typeface="Arial"/>
              </a:defRPr>
            </a:pPr>
            <a:r>
              <a:t>Differences in metrics reflect differences in how each paradigm reasons with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Five RAGAS metrics measure different dimensions of response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Faithfulness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Arial"/>
              </a:defRPr>
            </a:pPr>
            <a:r>
              <a:t>Claim decomposition + NLI vs context. Two experiments: statement granularity and NLI scoring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Response Groundedness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Arial"/>
              </a:defRPr>
            </a:pPr>
            <a:r>
              <a:t>Holistic faithfulness — dual LLM judges rate whole response 0/1/2 against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Context Relevance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Arial"/>
              </a:defRPr>
            </a:pPr>
            <a:r>
              <a:t>Is retrieved context relevant? Dual judges rate 0/1/2 per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Context 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Arial"/>
              </a:defRPr>
            </a:pPr>
            <a:r>
              <a:t>Did the model use relevant context chunks? Per-chunk binary verdict.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Answer Relevancy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2D2D2D"/>
                </a:solidFill>
                <a:latin typeface="Arial"/>
              </a:defRPr>
            </a:pPr>
            <a:r>
              <a:t>Embedding cosine similarity between reverse-engineered question and actual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Each metric has a dedicated dataset with human-annotated golden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Dataset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Faithfulness: all-faithful / mixed / all-unfaithful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  at low, medium, and high granularity (45 examples)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Context Relevance: one chunk, needle-in-haystack,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  full spectrum scenarios (39 examples)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Response Groundedness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Partial support, contradiction, rejection, fabrication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Single and multi-chunk contexts (33 examples)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Other datasets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Context Utilization: 30 examples with per-chunk labels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Answer Relevancy: 25 examples with relevance + noncommittal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Annotation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Datasets generated with Claude, curated and annotated by hand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Edge case decisions documented in annotation notes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700">
                <a:solidFill>
                  <a:srgbClr val="2D2D2D"/>
                </a:solidFill>
                <a:latin typeface="Arial"/>
              </a:defRPr>
              <a:buChar char="–"/>
            </a:pPr>
            <a:r>
              <a:t>Ground truth for score comparison and inter-rater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1F4E79"/>
                </a:solidFill>
                <a:latin typeface="Arial"/>
              </a:defRPr>
            </a:pPr>
            <a:r>
              <a:t>Models are evaluated per-metric against golden labels and each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Per-model vs golden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Continuous scores (MAE, Spearman ρ, Cohen's 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Binary verdicts (Accuracy, F1, MCC)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Ordinal 0-1-2 (Weighted F1, quadratic Cohen's 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Latency: every LLM call timed — compare generation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Inter-model (3+ models as raters)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Continuous: ICC (Intraclass Correlation)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Ordinal: Krippendorff's α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Binary: Fleiss' 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2E75B6"/>
                </a:solidFill>
                <a:latin typeface="Arial"/>
              </a:defRPr>
            </a:pPr>
            <a:r>
              <a:t>Latency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GPT-4.1-mini (judge) tracked for observability only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700" b="0">
                <a:solidFill>
                  <a:srgbClr val="2D2D2D"/>
                </a:solidFill>
                <a:latin typeface="Arial"/>
              </a:defRPr>
            </a:pPr>
            <a:r>
              <a:t>Models under test: compare end-to-end generation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8229600" cy="73152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700" b="0">
                <a:solidFill>
                  <a:srgbClr val="1F4E79"/>
                </a:solidFill>
                <a:latin typeface="Arial"/>
              </a:defRPr>
            </a:pPr>
            <a:r>
              <a:t>Goal: identify systematic differences in how diffusion vs autoregressive models reason, not just which scores higher.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A0BBDD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1. Run full evaluation across all models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   LLaDA2.1-mini, Gemma-4 variants, Qwen3.6 on all 5 metrics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2. Analyze results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   Per-metric distributions, inter-rater agreement, latency profiles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3. Qualitative analysis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   Strictness patterns, reasoning differences, structured output handling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4. Write thesis documentation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5. Optional extensions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   I-DLM (32B introspective diffusion), prompt tuning for diffusion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400" b="0">
                <a:solidFill>
                  <a:srgbClr val="A0BBDD"/>
                </a:solidFill>
                <a:latin typeface="Arial"/>
              </a:defRPr>
            </a:pPr>
            <a:r>
              <a:t>lovro.kovacic@infobip.com  |  Work in progress —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