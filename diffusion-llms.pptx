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9"/>
  </p:normalViewPr>
  <p:slideViewPr>
    <p:cSldViewPr snapToGrid="0">
      <p:cViewPr varScale="1">
        <p:scale>
          <a:sx n="149" d="100"/>
          <a:sy n="149" d="100"/>
        </p:scale>
        <p:origin x="19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4698-B697-CB8C-4188-E68DEEF9B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15934-F778-08FD-5C44-75F2697B5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1ACE7-E7EF-088F-F635-4BACD8FF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41852-CDEE-411F-A04F-0CD83E049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8A33C-29F3-D204-2493-3586F7F6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70CE-339B-CB54-2146-86AC2799C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ED0E-CAE3-4400-3CA4-190C9776F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68DE-E3CF-3C6F-22CD-1874D79D5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5339C-CB5A-2D1A-101C-5846D9CA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28B8-592F-3360-0C49-6FBA2474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17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B660-9EF0-DB4C-5DD7-6BB3E4FF4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AC957-F004-C642-9236-A491E3A98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DD6C1-6C4F-7DCD-4E42-CBA267F5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2D74-5944-3E31-705F-9D41C94E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187CF-A36C-5563-C612-6C869B52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25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2403F-0B5C-DAE2-3C43-F08E4CBA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C25F-EF79-50C0-7A64-AF004118C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3129-C625-19C4-2D4D-EF9334102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6B5EB-5556-3D22-09CE-E04C995A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5BB63-19E0-0A2C-FF81-13E1E429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074CD-AEE3-A1BD-FDF8-AF398911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34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D83E-F818-17EE-DA58-538C9DD94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64C34-EF81-C8B5-B1C5-80EAC52E9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23F41-E5B2-6015-042C-D909129F6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7A19B-41AE-B229-E563-F0FFD1319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C36FF-1193-EEB5-C6BB-E15D53C81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96636-A3A1-7171-CB11-D2A36B205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F0690-1519-4A37-2333-792A7997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B5E50-B604-B6FE-52DF-F8926509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9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A56A-6FFC-BA0D-9AA6-0ACA8238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8AFB-DBC2-6F1C-F60E-E0B4FE68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0D06B-7510-F6F6-1462-2E21C72F9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3D5CA-6340-5AE1-61F0-76DA2CACE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2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14E2E-EADA-2E2E-4DEF-EF54735D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0FDF4-1DBE-5042-2B25-9675357B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7BFB-DFCE-5ECB-B90B-8A31F0D5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25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612D-0964-B723-196C-BF552797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DA405-E302-8129-E7D2-607D43DFE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C807EA-480F-B3F7-EFEA-DD9E41193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83320-1E68-62DC-3E21-2F7094DE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7F0A5-6918-E1C6-2127-B459C8C3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D1D25-2ED0-CC9F-F99D-15BFFC64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7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3E6B-3090-DA0D-5BA1-15F60CC8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C450F0-0108-96F1-F1A4-15752C266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30C2E-686E-E71D-8425-5D6E07371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A0AC6-3ED1-EA12-1C3B-0BE012E6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CBB6C-6100-0804-E2F9-982F302B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8FE1E-7F32-CAD7-7673-2C6402271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AA8A8-E456-CA52-1AC9-E47ED00D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049323-5B70-376D-F919-6B5BC87DB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E59C9-2AB6-2784-CED2-A9C2607C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D4090-178E-BEA2-DE83-A332D7EF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6A2A9-FE10-C0FA-ABBB-41C835145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28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379672-66AC-C388-A99D-990AC165E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9B69A-7C1F-B8A5-0BFB-AD2C7F374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95AC6-FB4E-1671-F7FF-83E3225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49832-1210-2997-6C2D-D455BDBEE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6C370-1036-FAD2-A3EF-B1AD9CFA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017A4-F643-C742-F302-B7287FF11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0F9D5-581C-B2DF-9711-6BE0ABC4B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D960A-2CBF-6409-D351-018CDDB02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27828-D712-054F-A690-B313D9E7E7AC}" type="datetimeFigureOut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3EFAA-1604-3741-312C-903E78D00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67BF7-7580-67BC-AFFF-A9162E905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92C6C9-2280-354B-8693-982F5B10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4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73B0-C91C-00DF-B4C4-0372992707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Diffusion LLMs vs Autoregressive 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12E62-98E7-EC90-8A6C-12B6407C95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5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0F59-FFD3-DCDE-CF7A-ACD36788B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radimo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A9F9E-C61F-A04B-8A21-D0F7F4BD9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Evaluiramo</a:t>
            </a:r>
            <a:r>
              <a:rPr lang="en-US" dirty="0"/>
              <a:t> </a:t>
            </a:r>
            <a:r>
              <a:rPr lang="en-US" dirty="0" err="1"/>
              <a:t>razlike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difuzijskih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AR LLM </a:t>
            </a:r>
            <a:r>
              <a:rPr lang="en-US" b="1" dirty="0" err="1"/>
              <a:t>kada</a:t>
            </a:r>
            <a:r>
              <a:rPr lang="en-US" b="1" dirty="0"/>
              <a:t> se </a:t>
            </a:r>
            <a:r>
              <a:rPr lang="en-US" b="1" dirty="0" err="1"/>
              <a:t>koriste</a:t>
            </a:r>
            <a:r>
              <a:rPr lang="en-US" b="1" dirty="0"/>
              <a:t> u LLM-as-a-judge </a:t>
            </a:r>
            <a:r>
              <a:rPr lang="en-US" b="1" dirty="0" err="1"/>
              <a:t>primjenama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2465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98FC-C460-92F7-F9E1-E6A5E276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LLM-as-a-judge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106C1-C630-CD16-A0C4-375B49F96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+ API call</a:t>
            </a:r>
          </a:p>
          <a:p>
            <a:r>
              <a:rPr lang="en-US" dirty="0" err="1"/>
              <a:t>Dovoljno</a:t>
            </a:r>
            <a:r>
              <a:rPr lang="en-US" dirty="0"/>
              <a:t> dobro </a:t>
            </a:r>
            <a:r>
              <a:rPr lang="en-US" dirty="0" err="1"/>
              <a:t>slaganje</a:t>
            </a:r>
            <a:r>
              <a:rPr lang="en-US" dirty="0"/>
              <a:t> s </a:t>
            </a:r>
            <a:r>
              <a:rPr lang="en-US" dirty="0" err="1"/>
              <a:t>ručno</a:t>
            </a:r>
            <a:r>
              <a:rPr lang="en-US" dirty="0"/>
              <a:t> </a:t>
            </a:r>
            <a:r>
              <a:rPr lang="en-US" dirty="0" err="1"/>
              <a:t>anotiranim</a:t>
            </a:r>
            <a:r>
              <a:rPr lang="en-US" dirty="0"/>
              <a:t> </a:t>
            </a:r>
            <a:r>
              <a:rPr lang="en-US" dirty="0" err="1"/>
              <a:t>podatcima</a:t>
            </a:r>
            <a:endParaRPr lang="en-US" dirty="0"/>
          </a:p>
          <a:p>
            <a:pPr lvl="1"/>
            <a:r>
              <a:rPr lang="en-US" dirty="0"/>
              <a:t>Ako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kriteriji</a:t>
            </a:r>
            <a:r>
              <a:rPr lang="en-US" dirty="0"/>
              <a:t> </a:t>
            </a:r>
            <a:r>
              <a:rPr lang="en-US" dirty="0" err="1"/>
              <a:t>jasni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8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39CD-2F8D-4F81-10B7-B3B59A22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 pipeline</a:t>
            </a:r>
          </a:p>
        </p:txBody>
      </p:sp>
      <p:pic>
        <p:nvPicPr>
          <p:cNvPr id="4" name="Content Placeholder 3" descr="RAG Pipeline Overview — NVIDIA NeMo Framework User Guide">
            <a:extLst>
              <a:ext uri="{FF2B5EF4-FFF2-40B4-BE49-F238E27FC236}">
                <a16:creationId xmlns:a16="http://schemas.microsoft.com/office/drawing/2014/main" id="{146932D0-D0A3-2F64-58DA-9FD660AA2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0434" y="1315223"/>
            <a:ext cx="8819260" cy="504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9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B09A-6C74-B516-302C-1D08B03D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Ragas </a:t>
            </a:r>
            <a:r>
              <a:rPr lang="en-US" dirty="0" err="1"/>
              <a:t>metrike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4783E-E51E-7E80-56FB-FBD39B182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framework za </a:t>
            </a:r>
            <a:r>
              <a:rPr lang="en-US" dirty="0" err="1"/>
              <a:t>evaluaciju</a:t>
            </a:r>
            <a:r>
              <a:rPr lang="en-US" dirty="0"/>
              <a:t> AI </a:t>
            </a:r>
            <a:r>
              <a:rPr lang="en-US" dirty="0" err="1"/>
              <a:t>Agenata</a:t>
            </a:r>
            <a:endParaRPr lang="en-US" dirty="0"/>
          </a:p>
          <a:p>
            <a:r>
              <a:rPr lang="en-US" dirty="0"/>
              <a:t>5 </a:t>
            </a:r>
            <a:r>
              <a:rPr lang="en-US" dirty="0" err="1"/>
              <a:t>metrika</a:t>
            </a:r>
            <a:r>
              <a:rPr lang="en-US" dirty="0"/>
              <a:t> (ne </a:t>
            </a:r>
            <a:r>
              <a:rPr lang="en-US" dirty="0" err="1"/>
              <a:t>zahtjevaju</a:t>
            </a:r>
            <a:r>
              <a:rPr lang="en-US" dirty="0"/>
              <a:t> </a:t>
            </a:r>
            <a:r>
              <a:rPr lang="en-US" dirty="0" err="1"/>
              <a:t>referencu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Answer_relevancy</a:t>
            </a:r>
            <a:endParaRPr lang="en-US" dirty="0"/>
          </a:p>
          <a:p>
            <a:pPr lvl="1"/>
            <a:r>
              <a:rPr lang="en-US" dirty="0" err="1"/>
              <a:t>Context_relevance</a:t>
            </a:r>
            <a:endParaRPr lang="en-US" dirty="0"/>
          </a:p>
          <a:p>
            <a:pPr lvl="1"/>
            <a:r>
              <a:rPr lang="en-US" dirty="0" err="1"/>
              <a:t>Context_utilization</a:t>
            </a:r>
            <a:endParaRPr lang="en-US" dirty="0"/>
          </a:p>
          <a:p>
            <a:pPr lvl="1"/>
            <a:r>
              <a:rPr lang="en-US" dirty="0" err="1"/>
              <a:t>Faithfuless</a:t>
            </a:r>
            <a:endParaRPr lang="en-US" dirty="0"/>
          </a:p>
          <a:p>
            <a:pPr lvl="1"/>
            <a:r>
              <a:rPr lang="en-US" dirty="0" err="1"/>
              <a:t>Response_groundness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0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59E78-800B-91E2-9C55-9073D4CC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Primjer</a:t>
            </a:r>
            <a:r>
              <a:rPr lang="en-US" dirty="0"/>
              <a:t> </a:t>
            </a:r>
            <a:r>
              <a:rPr lang="en-US" dirty="0" err="1"/>
              <a:t>dataseta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E392-7697-68C6-68B0-F54B81FAF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A2191-F457-BD2C-7960-F11CB8A8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276" y="1690688"/>
            <a:ext cx="5201447" cy="459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4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6B508-D617-372A-71DC-B0DCDFBE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Primjer</a:t>
            </a:r>
            <a:r>
              <a:rPr lang="en-US" dirty="0"/>
              <a:t> </a:t>
            </a:r>
            <a:r>
              <a:rPr lang="en-US" dirty="0" err="1"/>
              <a:t>dataseta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3FD2A-9A8C-4BFC-F79D-BFCD8F968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D3252D-7F8B-49BD-EACE-5CDC9CE47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3459"/>
            <a:ext cx="12161597" cy="116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7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7468-1F08-C2C5-B14E-0D7FA4E7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Answer_relevancy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9EEA3-81AF-5881-D3C8-F5BA13A4B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</a:t>
            </a:r>
          </a:p>
          <a:p>
            <a:pPr lvl="1"/>
            <a:r>
              <a:rPr lang="en-US" b="1" dirty="0"/>
              <a:t>Question</a:t>
            </a:r>
          </a:p>
          <a:p>
            <a:pPr lvl="1"/>
            <a:r>
              <a:rPr lang="en-US" dirty="0"/>
              <a:t>Response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Reverse-engineered question from response</a:t>
            </a:r>
          </a:p>
          <a:p>
            <a:pPr lvl="2"/>
            <a:r>
              <a:rPr lang="en-US" dirty="0" err="1">
                <a:highlight>
                  <a:srgbClr val="FFFF00"/>
                </a:highlight>
              </a:rPr>
              <a:t>Cosine_similarity</a:t>
            </a:r>
            <a:r>
              <a:rPr lang="en-US" dirty="0">
                <a:highlight>
                  <a:srgbClr val="FFFF00"/>
                </a:highlight>
              </a:rPr>
              <a:t>(Reverse-engineered question, </a:t>
            </a:r>
            <a:r>
              <a:rPr lang="en-US" b="1" dirty="0">
                <a:highlight>
                  <a:srgbClr val="FFFF00"/>
                </a:highlight>
              </a:rPr>
              <a:t>Question</a:t>
            </a:r>
            <a:r>
              <a:rPr lang="en-US" dirty="0">
                <a:highlight>
                  <a:srgbClr val="FFFF00"/>
                </a:highlight>
              </a:rPr>
              <a:t>)</a:t>
            </a:r>
          </a:p>
          <a:p>
            <a:pPr lvl="1"/>
            <a:r>
              <a:rPr lang="en-US" dirty="0" err="1">
                <a:highlight>
                  <a:srgbClr val="FFFF00"/>
                </a:highlight>
              </a:rPr>
              <a:t>Uncommital</a:t>
            </a:r>
            <a:r>
              <a:rPr lang="en-US" dirty="0">
                <a:highlight>
                  <a:srgbClr val="FFFF00"/>
                </a:highlight>
              </a:rPr>
              <a:t> binary flag</a:t>
            </a:r>
          </a:p>
          <a:p>
            <a:pPr lvl="2"/>
            <a:r>
              <a:rPr lang="en-US" dirty="0" err="1"/>
              <a:t>Uncommital</a:t>
            </a:r>
            <a:r>
              <a:rPr lang="en-US" dirty="0"/>
              <a:t> </a:t>
            </a:r>
            <a:r>
              <a:rPr lang="en-US" dirty="0" err="1"/>
              <a:t>odgovori</a:t>
            </a:r>
            <a:r>
              <a:rPr lang="en-US" dirty="0"/>
              <a:t> ”ne </a:t>
            </a:r>
            <a:r>
              <a:rPr lang="en-US" dirty="0" err="1"/>
              <a:t>daju</a:t>
            </a:r>
            <a:r>
              <a:rPr lang="en-US" dirty="0"/>
              <a:t> </a:t>
            </a:r>
            <a:r>
              <a:rPr lang="en-US" dirty="0" err="1"/>
              <a:t>informaciju</a:t>
            </a:r>
            <a:r>
              <a:rPr lang="en-US" dirty="0"/>
              <a:t>”</a:t>
            </a:r>
          </a:p>
          <a:p>
            <a:pPr lvl="2"/>
            <a:r>
              <a:rPr lang="en-US" dirty="0" err="1"/>
              <a:t>Npr</a:t>
            </a:r>
            <a:r>
              <a:rPr lang="en-US" dirty="0"/>
              <a:t>. ” I'm not able to help with that question. Sorry.”</a:t>
            </a:r>
          </a:p>
        </p:txBody>
      </p:sp>
    </p:spTree>
    <p:extLst>
      <p:ext uri="{BB962C8B-B14F-4D97-AF65-F5344CB8AC3E}">
        <p14:creationId xmlns:p14="http://schemas.microsoft.com/office/powerpoint/2010/main" val="12726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8FD3-AA34-3C32-65FA-DEDFC6F8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2723-D225-C49C-78C7-6D57897CD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Question</a:t>
            </a:r>
          </a:p>
          <a:p>
            <a:pPr lvl="1"/>
            <a:r>
              <a:rPr lang="en-US" dirty="0"/>
              <a:t>Retrieved context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 err="1"/>
              <a:t>Oznake</a:t>
            </a:r>
            <a:r>
              <a:rPr lang="en-US" dirty="0"/>
              <a:t> 0, 1 </a:t>
            </a:r>
            <a:r>
              <a:rPr lang="en-US" dirty="0" err="1"/>
              <a:t>ili</a:t>
            </a:r>
            <a:r>
              <a:rPr lang="en-US" dirty="0"/>
              <a:t> 2 (</a:t>
            </a:r>
            <a:r>
              <a:rPr lang="en-US" dirty="0" err="1"/>
              <a:t>diskretna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Judge1 I judge2</a:t>
            </a:r>
          </a:p>
          <a:p>
            <a:pPr lvl="2"/>
            <a:r>
              <a:rPr lang="en-US" dirty="0"/>
              <a:t>Ista </a:t>
            </a:r>
            <a:r>
              <a:rPr lang="en-US" dirty="0" err="1"/>
              <a:t>semantika</a:t>
            </a:r>
            <a:r>
              <a:rPr lang="en-US" dirty="0"/>
              <a:t>, </a:t>
            </a:r>
            <a:r>
              <a:rPr lang="en-US" dirty="0" err="1"/>
              <a:t>drugciji</a:t>
            </a:r>
            <a:r>
              <a:rPr lang="en-US" dirty="0"/>
              <a:t> wording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99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02A8-8E1D-B922-F91C-5695729BE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</a:t>
            </a:r>
            <a:r>
              <a:rPr lang="en-US" dirty="0" err="1"/>
              <a:t>groundness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DD5C-D23B-5216-4B72-ED6C48189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Response</a:t>
            </a:r>
          </a:p>
          <a:p>
            <a:pPr lvl="1"/>
            <a:r>
              <a:rPr lang="en-US" dirty="0" err="1"/>
              <a:t>Retreived</a:t>
            </a:r>
            <a:r>
              <a:rPr lang="en-US" dirty="0"/>
              <a:t> context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 err="1"/>
              <a:t>Oznake</a:t>
            </a:r>
            <a:r>
              <a:rPr lang="en-US" dirty="0"/>
              <a:t> 0, 1 </a:t>
            </a:r>
            <a:r>
              <a:rPr lang="en-US" dirty="0" err="1"/>
              <a:t>ili</a:t>
            </a:r>
            <a:r>
              <a:rPr lang="en-US" dirty="0"/>
              <a:t> 2 (</a:t>
            </a:r>
            <a:r>
              <a:rPr lang="en-US" dirty="0" err="1"/>
              <a:t>diskretna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Judge1 I judge2</a:t>
            </a:r>
          </a:p>
          <a:p>
            <a:pPr lvl="2"/>
            <a:r>
              <a:rPr lang="en-US" dirty="0"/>
              <a:t>Ista </a:t>
            </a:r>
            <a:r>
              <a:rPr lang="en-US" dirty="0" err="1"/>
              <a:t>semantika</a:t>
            </a:r>
            <a:r>
              <a:rPr lang="en-US" dirty="0"/>
              <a:t>, </a:t>
            </a:r>
            <a:r>
              <a:rPr lang="en-US" dirty="0" err="1"/>
              <a:t>drugciji</a:t>
            </a:r>
            <a:r>
              <a:rPr lang="en-US" dirty="0"/>
              <a:t> wording</a:t>
            </a:r>
          </a:p>
        </p:txBody>
      </p:sp>
    </p:spTree>
    <p:extLst>
      <p:ext uri="{BB962C8B-B14F-4D97-AF65-F5344CB8AC3E}">
        <p14:creationId xmlns:p14="http://schemas.microsoft.com/office/powerpoint/2010/main" val="1808163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215D-26C1-5401-FE47-42B154CD0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utilization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4E67B-BB8B-B9D5-28E1-C3720425D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Question</a:t>
            </a:r>
          </a:p>
          <a:p>
            <a:pPr lvl="1"/>
            <a:r>
              <a:rPr lang="en-US" dirty="0"/>
              <a:t>Response</a:t>
            </a:r>
          </a:p>
          <a:p>
            <a:pPr lvl="1"/>
            <a:r>
              <a:rPr lang="en-US" dirty="0"/>
              <a:t>Context (chunk by chunk)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Binary flag</a:t>
            </a:r>
          </a:p>
          <a:p>
            <a:pPr lvl="2"/>
            <a:r>
              <a:rPr lang="en-US" dirty="0"/>
              <a:t>Utilized vs not utilized</a:t>
            </a:r>
          </a:p>
        </p:txBody>
      </p:sp>
    </p:spTree>
    <p:extLst>
      <p:ext uri="{BB962C8B-B14F-4D97-AF65-F5344CB8AC3E}">
        <p14:creationId xmlns:p14="http://schemas.microsoft.com/office/powerpoint/2010/main" val="3932271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6529A-1FC5-E595-D104-41631F9A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Faithfulness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33B58-5C27-217F-85DF-9860AC9DD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Answer</a:t>
            </a:r>
          </a:p>
          <a:p>
            <a:pPr lvl="1"/>
            <a:r>
              <a:rPr lang="en-US" dirty="0"/>
              <a:t>context</a:t>
            </a:r>
          </a:p>
          <a:p>
            <a:r>
              <a:rPr lang="en-US" dirty="0"/>
              <a:t>OUTPUT</a:t>
            </a:r>
          </a:p>
          <a:p>
            <a:pPr lvl="1"/>
            <a:r>
              <a:rPr lang="en-US" dirty="0"/>
              <a:t>Factual statements presented in the answer</a:t>
            </a:r>
          </a:p>
          <a:p>
            <a:pPr lvl="2"/>
            <a:r>
              <a:rPr lang="en-US" dirty="0"/>
              <a:t>Binary flag for each</a:t>
            </a:r>
          </a:p>
          <a:p>
            <a:pPr lvl="2"/>
            <a:r>
              <a:rPr lang="en-US" dirty="0"/>
              <a:t>Is faithful to context?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3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FB77-D44F-0E1A-ACED-80EBA113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Faithfulness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40C56-B21D-6D80-0C53-3386B9344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Atomic claim / statement extraction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NLI-based support checking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faithfulness score</a:t>
            </a:r>
          </a:p>
        </p:txBody>
      </p:sp>
    </p:spTree>
    <p:extLst>
      <p:ext uri="{BB962C8B-B14F-4D97-AF65-F5344CB8AC3E}">
        <p14:creationId xmlns:p14="http://schemas.microsoft.com/office/powerpoint/2010/main" val="204258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1487</TotalTime>
  <Words>215</Words>
  <Application>Microsoft Macintosh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Diffusion LLMs vs Autoregressive LLMs</vt:lpstr>
      <vt:lpstr>Što radimo?</vt:lpstr>
      <vt:lpstr>LLM-as-a-judge</vt:lpstr>
      <vt:lpstr>RAG pipeline</vt:lpstr>
      <vt:lpstr>Ragas metrike</vt:lpstr>
      <vt:lpstr>Primjer dataseta</vt:lpstr>
      <vt:lpstr>Primjer dataseta</vt:lpstr>
      <vt:lpstr>Answer_relevancy</vt:lpstr>
      <vt:lpstr>Context relevance</vt:lpstr>
      <vt:lpstr>Response groundness</vt:lpstr>
      <vt:lpstr>Context utilization</vt:lpstr>
      <vt:lpstr>Faithfulness</vt:lpstr>
      <vt:lpstr>Faithfulness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Lovro Kovačić</dc:creator>
  <cp:lastModifiedBy>Lovro Kovačić</cp:lastModifiedBy>
  <cp:revision>1</cp:revision>
  <dcterms:created xsi:type="dcterms:W3CDTF">2026-06-11T08:10:17Z</dcterms:created>
  <dcterms:modified xsi:type="dcterms:W3CDTF">2026-06-12T08:57:55Z</dcterms:modified>
</cp:coreProperties>
</file>